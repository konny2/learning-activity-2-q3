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DE4EB-7CCF-42D9-A35C-39C18D7DFF1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E5CFD-83C3-42C1-B8BF-26EB921D8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8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50040" y="0"/>
            <a:ext cx="438912" cy="6858000"/>
          </a:xfrm>
          <a:prstGeom prst="rect">
            <a:avLst/>
          </a:prstGeom>
          <a:solidFill>
            <a:srgbClr val="1F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6713" y="1051560"/>
            <a:ext cx="11210584" cy="2323713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A/B Testing: Impact of Discounts on Customer</a:t>
            </a:r>
            <a:br>
              <a:rPr lang="en-US" dirty="0"/>
            </a:br>
            <a:r>
              <a:rPr dirty="0"/>
              <a:t> Spending</a:t>
            </a:r>
            <a:br>
              <a:rPr lang="en-US" dirty="0"/>
            </a:br>
            <a:r>
              <a:rPr lang="en-US" sz="4000" dirty="0">
                <a:solidFill>
                  <a:srgbClr val="0EA5E9"/>
                </a:solidFill>
                <a:latin typeface="Inter Medium"/>
                <a:ea typeface="Inter Medium"/>
                <a:cs typeface="Inter Medium"/>
                <a:sym typeface="Inter Medium"/>
              </a:rPr>
              <a:t>Statistical Analysis of Promotional Offers</a:t>
            </a:r>
            <a:endParaRPr sz="4000" dirty="0"/>
          </a:p>
          <a:p>
            <a:pPr>
              <a:defRPr sz="1700">
                <a:solidFill>
                  <a:srgbClr val="CCDAE8"/>
                </a:solidFill>
              </a:defRPr>
            </a:pPr>
            <a:r>
              <a:rPr dirty="0">
                <a:solidFill>
                  <a:srgbClr val="FF0000"/>
                </a:solidFill>
              </a:rPr>
              <a:t>Question 3 hypothesis testing analysis using Python and </a:t>
            </a:r>
            <a:r>
              <a:rPr dirty="0" err="1">
                <a:solidFill>
                  <a:srgbClr val="FF0000"/>
                </a:solidFill>
              </a:rPr>
              <a:t>scipy.stats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3977639"/>
            <a:ext cx="2194560" cy="1143000"/>
          </a:xfrm>
          <a:prstGeom prst="roundRect">
            <a:avLst/>
          </a:prstGeom>
          <a:solidFill>
            <a:srgbClr val="17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26388" y="4243537"/>
            <a:ext cx="1079142" cy="6386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$48.96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rPr dirty="0">
                <a:solidFill>
                  <a:srgbClr val="FF0000"/>
                </a:solidFill>
              </a:rPr>
              <a:t>Group A 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977639"/>
            <a:ext cx="2194560" cy="1143000"/>
          </a:xfrm>
          <a:prstGeom prst="round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95269" y="4243537"/>
            <a:ext cx="1079142" cy="6386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$55.27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rPr dirty="0">
                <a:solidFill>
                  <a:srgbClr val="FF0000"/>
                </a:solidFill>
              </a:rPr>
              <a:t>Group B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977639"/>
            <a:ext cx="2194560" cy="1143000"/>
          </a:xfrm>
          <a:prstGeom prst="roundRect">
            <a:avLst/>
          </a:prstGeom>
          <a:solidFill>
            <a:srgbClr val="1F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5258" y="4243537"/>
            <a:ext cx="1176924" cy="6386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-4.3164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rPr dirty="0">
                <a:solidFill>
                  <a:srgbClr val="FF0000"/>
                </a:solidFill>
              </a:rPr>
              <a:t>t-statistic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977639"/>
            <a:ext cx="2194560" cy="11430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9222" y="4458421"/>
            <a:ext cx="1726755" cy="6386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lang="en-US" dirty="0"/>
              <a:t>0.00002560</a:t>
            </a:r>
            <a:endParaRPr dirty="0"/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rPr dirty="0">
                <a:solidFill>
                  <a:srgbClr val="FF0000"/>
                </a:solidFill>
              </a:rPr>
              <a:t>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AD6E2"/>
                </a:solidFill>
              </a:defRPr>
            </a:pPr>
            <a:r>
              <a:rPr dirty="0"/>
              <a:t>CS 4/5630 - Python for Computational and Data Sciences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CFBAD-0582-64D8-5013-C70BBC49AFCB}"/>
              </a:ext>
            </a:extLst>
          </p:cNvPr>
          <p:cNvSpPr txBox="1"/>
          <p:nvPr/>
        </p:nvSpPr>
        <p:spPr>
          <a:xfrm>
            <a:off x="7162800" y="5577839"/>
            <a:ext cx="4013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6E2"/>
                </a:solidFill>
              </a:defRPr>
            </a:pPr>
            <a:r>
              <a:rPr lang="en-US" sz="2000" dirty="0">
                <a:solidFill>
                  <a:schemeClr val="bg2"/>
                </a:solidFill>
              </a:rPr>
              <a:t>Presented by Kporxah Kennedy John</a:t>
            </a:r>
            <a:endParaRPr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Testing whether a 10% discount changes average customer purchase amount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983480" cy="438912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Core 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252" y="1984248"/>
            <a:ext cx="4876308" cy="159017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Does a 10% promotional discount create a statistically significant change in customer purchase amount?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Use Python to move from descriptive patterns to inferential evidence.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Support the final answer with charts, t-statistic, p-value, and business interpretation.</a:t>
            </a:r>
          </a:p>
        </p:txBody>
      </p:sp>
      <p:pic>
        <p:nvPicPr>
          <p:cNvPr id="9" name="Picture 8" descr="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16636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709159"/>
            <a:ext cx="5166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Observed average lift: Group B minus Group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892040"/>
            <a:ext cx="516636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5029200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9A9D"/>
                </a:solidFill>
                <a:latin typeface="Aptos Display"/>
              </a:defRPr>
            </a:pPr>
            <a:r>
              <a:t>Executive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458968"/>
            <a:ext cx="4663440" cy="4297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Group B spent about $6.31 more on average, and the t-test result rejects H0 at alpha = 0.05.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Dataset and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Synthetic A/B testing structure from the provided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74720" cy="4297680"/>
          </a:xfrm>
          <a:prstGeom prst="roundRect">
            <a:avLst/>
          </a:prstGeom>
          <a:solidFill>
            <a:srgbClr val="F7F9FC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Group A -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7"/>
            <a:ext cx="2971800" cy="35844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No discount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n = 100 customers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Mean = $48.96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Std. dev. = $9.08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4297680"/>
          </a:xfrm>
          <a:prstGeom prst="roundRect">
            <a:avLst/>
          </a:prstGeom>
          <a:solidFill>
            <a:srgbClr val="F7F9FC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Group B -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92807"/>
            <a:ext cx="2971800" cy="35844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10% discount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n = 100 customers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Mean = $55.27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Std. dev. = $11.44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337560" cy="4297680"/>
          </a:xfrm>
          <a:prstGeom prst="roundRect">
            <a:avLst/>
          </a:prstGeom>
          <a:solidFill>
            <a:srgbClr val="F7F9FC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39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9A9D"/>
                </a:solidFill>
                <a:latin typeface="Aptos Display"/>
              </a:defRPr>
            </a:pPr>
            <a:r>
              <a:t>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892807"/>
            <a:ext cx="2834639" cy="35844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customer_id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group label: A or B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purchase_amount in USD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Random seed = 42 for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Python 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Notebook code reproduced exactly for the premium charts and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8006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Analysis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7"/>
            <a:ext cx="4709160" cy="4087368"/>
          </a:xfrm>
          <a:prstGeom prst="rect">
            <a:avLst/>
          </a:prstGeom>
          <a:solidFill>
            <a:schemeClr val="bg1"/>
          </a:solidFill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1. Generate synthetic purchase data with NumPy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2. Build pandas DataFrame with customer_id, group, and purchase_amount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3. Compute group-level descriptive statistics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4. Visualize histogram, KDE, boxplot, and mean comparison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5. Run scipy.stats.ttest_ind for Question 3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6. Interpret statistical and practical significance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7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22467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E6EEF6"/>
                </a:solidFill>
                <a:latin typeface="Consolas"/>
              </a:defRPr>
            </a:pPr>
            <a:r>
              <a:rPr lang="en-US" sz="1400" dirty="0"/>
              <a:t>from scipy import stats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t_stat, p_val = stats.ttest_ind(</a:t>
            </a:r>
            <a:br>
              <a:rPr lang="en-US" sz="1400" dirty="0"/>
            </a:br>
            <a:r>
              <a:rPr lang="en-US" sz="1400" dirty="0"/>
              <a:t>group_a,</a:t>
            </a:r>
            <a:br>
              <a:rPr lang="en-US" sz="1400" dirty="0"/>
            </a:br>
            <a:r>
              <a:rPr lang="en-US" sz="1400" dirty="0"/>
              <a:t>group_b,</a:t>
            </a:r>
            <a:br>
              <a:rPr lang="en-US" sz="1400" dirty="0"/>
            </a:br>
            <a:r>
              <a:rPr lang="en-US" sz="1400" dirty="0"/>
              <a:t>equal_var=False</a:t>
            </a:r>
            <a:br>
              <a:rPr lang="en-US" sz="1400" dirty="0"/>
            </a:br>
            <a:r>
              <a:rPr lang="en-US" sz="1400" dirty="0"/>
              <a:t>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print(f"Test Statistic: {t_stat:.4f}")</a:t>
            </a:r>
            <a:br>
              <a:rPr lang="en-US" sz="1400" dirty="0"/>
            </a:br>
            <a:r>
              <a:rPr lang="en-US" sz="1400" dirty="0"/>
              <a:t>print(f"P-value: {p_val:.8f}")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Summary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The discount group shows a higher mean, median, and maximum purchase amount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548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73B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 A</a:t>
                      </a:r>
                    </a:p>
                  </a:txBody>
                  <a:tcPr>
                    <a:solidFill>
                      <a:srgbClr val="173B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 B</a:t>
                      </a:r>
                    </a:p>
                  </a:txBody>
                  <a:tcPr>
                    <a:solidFill>
                      <a:srgbClr val="173B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Sample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$48.96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$55.27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$48.73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$56.01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Std. dev.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$9.08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$11.44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$23.80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$31.97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Maximum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$68.52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A33"/>
                          </a:solidFill>
                        </a:defRPr>
                      </a:pPr>
                      <a:r>
                        <a:t>$87.64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9400" y="1463040"/>
            <a:ext cx="4800600" cy="41148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Initial readout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029968"/>
            <a:ext cx="4297680" cy="34015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Group B mean is $6.31 higher than Group A.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treatment group also has a larger standard deviation, suggesting more varied customer responses.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Descriptive evidence supports a discount effect, but a t-test is needed to confirm statistical significance.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Histogram and KDE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Visual evidence of a rightward distribution shift for the discount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istogram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49224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349240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Histogram with KDE overlay from the reproduced notebook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931920" cy="38862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What the graph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84248"/>
            <a:ext cx="3429000" cy="31729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Group B appears more concentrated in higher spending ranges.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orange mean line sits to the right of the blue mean line.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visual pattern is consistent with higher average spending under the discount.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KDE Distribution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The treatment distribution shifts upward, not just one extreme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k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40080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34924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Smoothed density curves by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4160520" cy="38862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155448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84248"/>
            <a:ext cx="3657600" cy="31729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Group B curve peaks at a higher purchase amount.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Group B extends further into the high-spending range.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This suggests a broader behavioral shift, not only isolated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Boxplot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Median, spread, and outlier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530352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4068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Boxplot with individual jittered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417320"/>
            <a:ext cx="4800600" cy="384048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9A9D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84248"/>
            <a:ext cx="4297680" cy="312724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Group B has a higher median purchase value.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Group B shows wider variability, meaning customer response to the discount differs across shoppers.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Outliers do not explain the entire treatment effect; the center of the distribution also moves upward.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Hypothesis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rPr dirty="0"/>
              <a:t>Question 3 requires hypothesis testing using </a:t>
            </a:r>
            <a:r>
              <a:rPr dirty="0" err="1"/>
              <a:t>scipy.stats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92040" cy="352044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Null hypothesis, H0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84248"/>
            <a:ext cx="4389120" cy="28072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mu_A = mu_B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average purchase amount is the same for both groups.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discount has no effect on mean spending.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4892040" cy="352044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Alternative hypothesis, 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84248"/>
            <a:ext cx="4389120" cy="280720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mu_A != mu_B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average purchase amount differs between groups.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discount changes customer spending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2742"/>
                </a:solidFill>
              </a:defRPr>
            </a:pPr>
            <a:r>
              <a:t>Because the research question asks whether spending changes, a two-sided independent samples t-test is appropriate.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T-Test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The test compares the observed mean gap to expected sampling variation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07492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5354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rPr dirty="0"/>
              <a:t>Why this test is appropriate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326" y="1973580"/>
            <a:ext cx="4572000" cy="190821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groups are independent customer samples.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goal is to compare average purchase amounts.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lang="en-US" sz="1400" dirty="0"/>
              <a:t>The notebook uses scipy.stats.ttest_ind with equal_var=False, implementing Welch’s independent two-sample t-test.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v"/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output directly answers Question 3 by reporting the t-statistic.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937760" cy="4160520"/>
          </a:xfrm>
          <a:prstGeom prst="roundRect">
            <a:avLst/>
          </a:prstGeom>
          <a:solidFill>
            <a:srgbClr val="FAFCFE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2519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2742"/>
                </a:solidFill>
              </a:defRPr>
            </a:pPr>
            <a:r>
              <a:rPr lang="en-US" dirty="0"/>
              <a:t>Formula</a:t>
            </a:r>
          </a:p>
          <a:p>
            <a:pPr marL="285750" indent="-285750" algn="ctr">
              <a:buFont typeface="Wingdings" panose="05000000000000000000" pitchFamily="2" charset="2"/>
              <a:buChar char="v"/>
              <a:defRPr sz="2800" b="1">
                <a:solidFill>
                  <a:srgbClr val="0F2742"/>
                </a:solidFill>
              </a:defRPr>
            </a:pPr>
            <a:r>
              <a:rPr lang="en-US" sz="1400" dirty="0"/>
              <a:t>The negative t-value occurs because the average purchase amount of Group A is lower than that of Group B.</a:t>
            </a:r>
            <a:endParaRPr lang="en-US" dirty="0"/>
          </a:p>
          <a:p>
            <a:pPr algn="ctr">
              <a:defRPr sz="1400">
                <a:solidFill>
                  <a:srgbClr val="202A33"/>
                </a:solidFill>
              </a:defRPr>
            </a:pPr>
            <a:endParaRPr lang="en-US" dirty="0"/>
          </a:p>
          <a:p>
            <a:pPr algn="ctr">
              <a:defRPr sz="1400">
                <a:solidFill>
                  <a:srgbClr val="202A33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50A08E-607D-897E-CE88-B15BCD189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34" y="3082972"/>
            <a:ext cx="3057539" cy="1629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Statistical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Exact output from the provided notebook and reproduced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423160" cy="1280160"/>
          </a:xfrm>
          <a:prstGeom prst="roundRect">
            <a:avLst/>
          </a:prstGeom>
          <a:solidFill>
            <a:srgbClr val="17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45336"/>
            <a:ext cx="214884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$48.96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t>Group A Mean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423160" cy="1280160"/>
          </a:xfrm>
          <a:prstGeom prst="round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545336"/>
            <a:ext cx="214884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$55.27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t>Group B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423160" cy="1280160"/>
          </a:xfrm>
          <a:prstGeom prst="roundRect">
            <a:avLst/>
          </a:prstGeom>
          <a:solidFill>
            <a:srgbClr val="1F9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45336"/>
            <a:ext cx="214884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-4.3164</a:t>
            </a:r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t>t-statistic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417320"/>
            <a:ext cx="2423160" cy="128016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5042" y="1751797"/>
            <a:ext cx="1726755" cy="6386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lang="en-US" dirty="0"/>
              <a:t>0.00002560</a:t>
            </a:r>
            <a:endParaRPr dirty="0"/>
          </a:p>
          <a:p>
            <a:pPr algn="ctr">
              <a:defRPr sz="1050">
                <a:solidFill>
                  <a:srgbClr val="EBF2F9"/>
                </a:solidFill>
              </a:defRPr>
            </a:pPr>
            <a:r>
              <a:rPr dirty="0"/>
              <a:t>p-value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Mean comparison with 95% confidence intervals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154680"/>
            <a:ext cx="5166360" cy="256032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721608"/>
            <a:ext cx="4663440" cy="184708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alpha = 0.05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p-value = 0.0000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Because p &lt; 0.05, reject H0.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discount significantly changes average purchase amount.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11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D2A8C8-0322-B470-04EC-E5040E3C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2852928"/>
            <a:ext cx="2637018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Statistical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The observed difference is unlikely to be random sampling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2920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Interpretation of t and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84248"/>
            <a:ext cx="4526280" cy="16927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 = -4.3164 indicates Group A mean is lower than Group B mean.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p-value rounds to </a:t>
            </a:r>
            <a:r>
              <a:rPr lang="en-US" sz="1400" dirty="0"/>
              <a:t>0.00002560</a:t>
            </a:r>
            <a:r>
              <a:rPr dirty="0"/>
              <a:t>, far below 0.05.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null hypothesis of equal means is rejected.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statistical evidence supports a treatment effect from the discount.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8920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9A9D"/>
                </a:solidFill>
                <a:latin typeface="Aptos Display"/>
              </a:defRPr>
            </a:pPr>
            <a:r>
              <a:t>Plain-language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84248"/>
            <a:ext cx="4389120" cy="3767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Customers receiving the 10% discount spent about $6.31 more on average.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increase is statistically reliable in the simulated A/B test.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t>The discount appears to influence customer buying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t>Practical Business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A statistically significant lift must still be tested against profit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19"/>
            <a:ext cx="5216996" cy="3970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4348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6E78"/>
                </a:solidFill>
              </a:defRPr>
            </a:pPr>
            <a:r>
              <a:t>Observed spending lift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846320" cy="434340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2A03A"/>
                </a:solidFill>
                <a:latin typeface="Aptos Display"/>
              </a:defRPr>
            </a:pPr>
            <a: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84248"/>
            <a:ext cx="4343400" cy="40421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promotion increases gross cart value.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However, the company gives away 10% of the transaction value.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Profitability depends on margin, item mix, customer retention, and repeat purchases.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Next step: run margin-based live A/B testing.</a:t>
            </a:r>
            <a:endParaRPr lang="en-US" dirty="0"/>
          </a:p>
          <a:p>
            <a:pPr lvl="0"/>
            <a:endParaRPr lang="en-US" sz="1400" dirty="0">
              <a:solidFill>
                <a:srgbClr val="0EA5E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lvl="0"/>
            <a:endParaRPr lang="en-US" sz="1400" dirty="0">
              <a:solidFill>
                <a:srgbClr val="0EA5E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lvl="0"/>
            <a:r>
              <a:rPr lang="en-US" sz="1400" dirty="0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Math</a:t>
            </a:r>
            <a:endParaRPr lang="en-US" dirty="0"/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lang="en-US" sz="1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have mathematical certainty that offering a 10% discount changes consumer behavior, pushing them to add more items or higher-value items to their carts.</a:t>
            </a:r>
            <a:endParaRPr lang="en-US" dirty="0"/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13</a:t>
            </a:r>
          </a:p>
        </p:txBody>
      </p:sp>
      <p:pic>
        <p:nvPicPr>
          <p:cNvPr id="12" name="Google Shape;172;p19" descr="image.png">
            <a:extLst>
              <a:ext uri="{FF2B5EF4-FFF2-40B4-BE49-F238E27FC236}">
                <a16:creationId xmlns:a16="http://schemas.microsoft.com/office/drawing/2014/main" id="{B9D9A9B7-7BF3-EB26-74A3-7CACD4DE36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1" y="5867850"/>
            <a:ext cx="10980419" cy="75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79983-8176-D17E-DB82-DA0CCD83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913645-3CDB-1A9A-4765-760234F6167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1F445-3F99-9759-D943-7AEDCE789346}"/>
              </a:ext>
            </a:extLst>
          </p:cNvPr>
          <p:cNvSpPr txBox="1"/>
          <p:nvPr/>
        </p:nvSpPr>
        <p:spPr>
          <a:xfrm>
            <a:off x="502920" y="292608"/>
            <a:ext cx="4285981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rPr lang="en-US" dirty="0"/>
              <a:t>Strengths</a:t>
            </a:r>
            <a:r>
              <a:rPr dirty="0"/>
              <a:t> and </a:t>
            </a:r>
            <a:r>
              <a:rPr lang="en-US" dirty="0"/>
              <a:t>Future work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780BD-B1DF-B246-5CBD-949931D4BFC9}"/>
              </a:ext>
            </a:extLst>
          </p:cNvPr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Strong statistical evidence with clear 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519E6-82A8-3C98-AAC5-E28B2CF982A4}"/>
              </a:ext>
            </a:extLst>
          </p:cNvPr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C0D9EE-8BAE-7A1A-757D-4E6CCCE8E2C6}"/>
              </a:ext>
            </a:extLst>
          </p:cNvPr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A6285-4BE2-E480-F1FC-EE2CBC78868B}"/>
              </a:ext>
            </a:extLst>
          </p:cNvPr>
          <p:cNvSpPr txBox="1"/>
          <p:nvPr/>
        </p:nvSpPr>
        <p:spPr>
          <a:xfrm>
            <a:off x="960120" y="1508760"/>
            <a:ext cx="10278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rPr lang="en-US" dirty="0"/>
              <a:t>Strengths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FB520D-0E0A-DA07-1F78-3D9658A6DE9A}"/>
              </a:ext>
            </a:extLst>
          </p:cNvPr>
          <p:cNvSpPr txBox="1"/>
          <p:nvPr/>
        </p:nvSpPr>
        <p:spPr>
          <a:xfrm>
            <a:off x="960120" y="2581862"/>
            <a:ext cx="4617720" cy="16747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Clear Experimental Design Using A/B Testing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Reproducible Synthetic Dataset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Proper Use of Welch Independent Two-Sample T-Test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Fully Automated Python Workflow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Combination of Descriptive and Inferential Statistics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27DC6-1C71-7DD1-A306-39E0CF1DEFD4}"/>
              </a:ext>
            </a:extLst>
          </p:cNvPr>
          <p:cNvSpPr txBox="1"/>
          <p:nvPr/>
        </p:nvSpPr>
        <p:spPr>
          <a:xfrm>
            <a:off x="1083564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t>14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BB238683-A5FD-991F-B79F-2BC738B8745F}"/>
              </a:ext>
            </a:extLst>
          </p:cNvPr>
          <p:cNvSpPr/>
          <p:nvPr/>
        </p:nvSpPr>
        <p:spPr>
          <a:xfrm>
            <a:off x="6004560" y="1403604"/>
            <a:ext cx="51206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2A5B55-10C0-926A-E457-44440992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951" y="2727899"/>
            <a:ext cx="4724809" cy="14022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DD4FC8-F669-98E2-8670-2FB79C2CD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449" y="1633935"/>
            <a:ext cx="1298561" cy="4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2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0F2742"/>
                </a:solidFill>
                <a:latin typeface="Aptos Display"/>
              </a:defRPr>
            </a:pPr>
            <a:r>
              <a:rPr dirty="0"/>
              <a:t>Limitations and 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8813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>
                <a:solidFill>
                  <a:srgbClr val="5A6470"/>
                </a:solidFill>
                <a:latin typeface="Aptos"/>
              </a:defRPr>
            </a:pPr>
            <a:r>
              <a:t>Strong statistical evidence with clear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463040" cy="54864"/>
          </a:xfrm>
          <a:prstGeom prst="rect">
            <a:avLst/>
          </a:prstGeom>
          <a:solidFill>
            <a:srgbClr val="F2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3B64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4617720" cy="3767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Data are synthetic rather than live transactions.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Real retail data may be skewed or affected by seasonality.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The analysis does not include margin, cost of goods sold, or long-term retention.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Averages can be influenced by extreme purchases.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D777AC-B5D5-070F-9F7E-E3C7F362A3CF}"/>
              </a:ext>
            </a:extLst>
          </p:cNvPr>
          <p:cNvGrpSpPr/>
          <p:nvPr/>
        </p:nvGrpSpPr>
        <p:grpSpPr>
          <a:xfrm>
            <a:off x="6355080" y="1371600"/>
            <a:ext cx="5074920" cy="4480560"/>
            <a:chOff x="6355080" y="1371600"/>
            <a:chExt cx="5074920" cy="4480560"/>
          </a:xfrm>
        </p:grpSpPr>
        <p:sp>
          <p:nvSpPr>
            <p:cNvPr id="9" name="Rounded Rectangle 8"/>
            <p:cNvSpPr/>
            <p:nvPr/>
          </p:nvSpPr>
          <p:spPr>
            <a:xfrm>
              <a:off x="6355080" y="1371600"/>
              <a:ext cx="5074920" cy="4480560"/>
            </a:xfrm>
            <a:prstGeom prst="roundRect">
              <a:avLst/>
            </a:prstGeom>
            <a:solidFill>
              <a:srgbClr val="F7F9FC"/>
            </a:solidFill>
            <a:ln>
              <a:solidFill>
                <a:srgbClr val="DE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3680" y="1508760"/>
              <a:ext cx="461772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F9A9D"/>
                  </a:solidFill>
                  <a:latin typeface="Aptos Display"/>
                </a:defRPr>
              </a:pPr>
              <a:r>
                <a:t>Final conclusion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629400" y="1938528"/>
            <a:ext cx="4572000" cy="3767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Group B mean: $55.27 vs Group A mean: $48.96.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Notebook t-test: t = -4.3164, p = 0.0000.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Reject H0: the 10% discount significantly changes spending.</a:t>
            </a:r>
          </a:p>
          <a:p>
            <a:pPr>
              <a:spcAft>
                <a:spcPts val="800"/>
              </a:spcAft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Recommended next step: validate with real data and margin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9957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49C"/>
                </a:solidFill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11AB645-81C4-3821-B5F9-E1D5A37D8685}"/>
              </a:ext>
            </a:extLst>
          </p:cNvPr>
          <p:cNvGrpSpPr/>
          <p:nvPr/>
        </p:nvGrpSpPr>
        <p:grpSpPr>
          <a:xfrm>
            <a:off x="1232452" y="639957"/>
            <a:ext cx="8935279" cy="5472607"/>
            <a:chOff x="6355080" y="1371600"/>
            <a:chExt cx="5074920" cy="4480560"/>
          </a:xfrm>
          <a:solidFill>
            <a:schemeClr val="tx1"/>
          </a:solidFill>
        </p:grpSpPr>
        <p:sp>
          <p:nvSpPr>
            <p:cNvPr id="7" name="Rounded Rectangle 8">
              <a:extLst>
                <a:ext uri="{FF2B5EF4-FFF2-40B4-BE49-F238E27FC236}">
                  <a16:creationId xmlns:a16="http://schemas.microsoft.com/office/drawing/2014/main" id="{32EBDF82-B08C-18AD-6925-E9D031B70B96}"/>
                </a:ext>
              </a:extLst>
            </p:cNvPr>
            <p:cNvSpPr/>
            <p:nvPr/>
          </p:nvSpPr>
          <p:spPr>
            <a:xfrm>
              <a:off x="6355080" y="1371600"/>
              <a:ext cx="5074920" cy="4480560"/>
            </a:xfrm>
            <a:prstGeom prst="roundRect">
              <a:avLst/>
            </a:prstGeom>
            <a:grpFill/>
            <a:ln>
              <a:solidFill>
                <a:srgbClr val="DEE5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88B9BD-75C9-7D90-D0C0-C5BBC3F3494F}"/>
                </a:ext>
              </a:extLst>
            </p:cNvPr>
            <p:cNvSpPr txBox="1"/>
            <p:nvPr/>
          </p:nvSpPr>
          <p:spPr>
            <a:xfrm>
              <a:off x="7726680" y="1508760"/>
              <a:ext cx="1178528" cy="338554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F9A9D"/>
                  </a:solidFill>
                  <a:latin typeface="Aptos Display"/>
                </a:defRPr>
              </a:pPr>
              <a:r>
                <a:rPr lang="en-US" dirty="0"/>
                <a:t>References</a:t>
              </a:r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AD45C6-0C55-5578-78D2-97880FEAB4C9}"/>
              </a:ext>
            </a:extLst>
          </p:cNvPr>
          <p:cNvSpPr txBox="1"/>
          <p:nvPr/>
        </p:nvSpPr>
        <p:spPr>
          <a:xfrm>
            <a:off x="2189034" y="1221000"/>
            <a:ext cx="70667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Virtanen, P., </a:t>
            </a:r>
            <a:r>
              <a:rPr lang="en-US" dirty="0" err="1">
                <a:solidFill>
                  <a:schemeClr val="bg1"/>
                </a:solidFill>
              </a:rPr>
              <a:t>Gommers</a:t>
            </a:r>
            <a:r>
              <a:rPr lang="en-US" dirty="0">
                <a:solidFill>
                  <a:schemeClr val="bg1"/>
                </a:solidFill>
              </a:rPr>
              <a:t>, R., Oliphant, T. E., Haberland, M., Reddy, T., </a:t>
            </a:r>
            <a:r>
              <a:rPr lang="en-US" dirty="0" err="1">
                <a:solidFill>
                  <a:schemeClr val="bg1"/>
                </a:solidFill>
              </a:rPr>
              <a:t>Cournapeau</a:t>
            </a:r>
            <a:r>
              <a:rPr lang="en-US" dirty="0">
                <a:solidFill>
                  <a:schemeClr val="bg1"/>
                </a:solidFill>
              </a:rPr>
              <a:t>, D., ... &amp; SciPy 1.0 Contributors. (2020). SciPy 1.0: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Fundamental algorithms for scientific computing in Python. Nature Methods, 17(3), 261–272.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SciPy Developers. (2025). </a:t>
            </a:r>
            <a:r>
              <a:rPr lang="en-US" dirty="0" err="1">
                <a:solidFill>
                  <a:schemeClr val="bg1"/>
                </a:solidFill>
              </a:rPr>
              <a:t>scipy.stats.ttest_ind</a:t>
            </a:r>
            <a:r>
              <a:rPr lang="en-US" dirty="0">
                <a:solidFill>
                  <a:schemeClr val="bg1"/>
                </a:solidFill>
              </a:rPr>
              <a:t> — SciPy Statistical Functions Documentation. Retrieved from SciPy Official Documentation. This function performs independent two-sample t-tests and Welch’s t-test for unequal variances.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Montgomery, D. C. (2019). Design and Analysis of Experiments (10th ed.). John Wiley &amp; Sons.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McKinney, W. (2022). Python for Data Analysis: Data Wrangling with pandas, NumPy, and </a:t>
            </a:r>
            <a:r>
              <a:rPr lang="en-US" dirty="0" err="1">
                <a:solidFill>
                  <a:schemeClr val="bg1"/>
                </a:solidFill>
              </a:rPr>
              <a:t>Jupyter</a:t>
            </a:r>
            <a:r>
              <a:rPr lang="en-US" dirty="0">
                <a:solidFill>
                  <a:schemeClr val="bg1"/>
                </a:solidFill>
              </a:rPr>
              <a:t> (3rd ed.). O’Reilly Media.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Hunter, J. D. (2007). Matplotlib: A 2D graphics environment. Computing in Science &amp; Engineering, 9(3), 90–95.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Week 15 Learning Activity</a:t>
            </a:r>
            <a:r>
              <a:rPr lang="en-US">
                <a:solidFill>
                  <a:schemeClr val="bg1"/>
                </a:solidFill>
              </a:rPr>
              <a:t>, Python </a:t>
            </a:r>
            <a:r>
              <a:rPr lang="en-US" dirty="0">
                <a:solidFill>
                  <a:schemeClr val="bg1"/>
                </a:solidFill>
              </a:rPr>
              <a:t>for Computational and Data Sciences.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1414</Words>
  <Application>Microsoft Office PowerPoint</Application>
  <PresentationFormat>Widescreen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Inter</vt:lpstr>
      <vt:lpstr>Inter Medium</vt:lpstr>
      <vt:lpstr>Poppins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Kennedy Kporxah</cp:lastModifiedBy>
  <cp:revision>1</cp:revision>
  <dcterms:created xsi:type="dcterms:W3CDTF">2013-01-27T09:14:16Z</dcterms:created>
  <dcterms:modified xsi:type="dcterms:W3CDTF">2026-04-26T06:40:12Z</dcterms:modified>
  <cp:category/>
</cp:coreProperties>
</file>